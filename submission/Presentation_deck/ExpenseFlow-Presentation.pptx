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Montserrat"/>
      <p:regular r:id="rId201314"/>
    </p:embeddedFont>
    <p:embeddedFont>
      <p:font typeface="Montserrat Bold"/>
      <p:regular r:id="rId201315"/>
    </p:embeddedFont>
    <p:embeddedFont>
      <p:font typeface="Montserrat Black"/>
      <p:regular r:id="rId201316"/>
    </p:embeddedFont>
    <p:embeddedFont>
      <p:font typeface="Source Sans 3"/>
      <p:regular r:id="rId201317"/>
    </p:embeddedFont>
    <p:embeddedFont>
      <p:font typeface="Source Sans 3 Bold"/>
      <p:regular r:id="rId201318"/>
    </p:embeddedFont>
    <p:embeddedFont>
      <p:font typeface="Source Sans 3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749573"/>
            <a:ext cx="4353595" cy="234330"/>
          </a:xfrm>
          <a:prstGeom prst="roundRect">
            <a:avLst>
              <a:gd name="adj" fmla="val 790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632371" y="795784"/>
            <a:ext cx="4625801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TACTIVE AI-POWERED QA AUTOMATION &amp; SOFTWARE ENGINEERING ASSESSMENT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045592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2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ExpenseFlow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39874" y="1715244"/>
            <a:ext cx="8064252" cy="1209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3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AI-Powered Expense Approval &amp; Reimbursement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39874" y="3156124"/>
            <a:ext cx="8521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Using Next.js + TypeScript · Spring Boot · PostgreSQL · JWT Authentication · JUnit Testing · AI-Assisted Development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874" y="3561011"/>
            <a:ext cx="8064252" cy="832842"/>
          </a:xfrm>
          <a:prstGeom prst="roundRect">
            <a:avLst>
              <a:gd name="adj" fmla="val 2778"/>
            </a:avLst>
          </a:prstGeom>
          <a:solidFill>
            <a:srgbClr val="E4E4E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134" y="3775993"/>
            <a:ext cx="192807" cy="1542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1202" y="3753817"/>
            <a:ext cx="7408664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Objective: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design and build a secure role-based expense approval workflow with automated testing and AI-driven development.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0857"/>
            <a:ext cx="8064252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spc="-2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 &amp; Objective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30560" y="1086445"/>
            <a:ext cx="4065538" cy="3626197"/>
          </a:xfrm>
          <a:prstGeom prst="roundRect">
            <a:avLst>
              <a:gd name="adj" fmla="val 628"/>
            </a:avLst>
          </a:prstGeom>
          <a:solidFill>
            <a:srgbClr val="2D2E34"/>
          </a:solidFill>
          <a:ln/>
        </p:spPr>
      </p:sp>
      <p:sp>
        <p:nvSpPr>
          <p:cNvPr id="4" name="Text 2"/>
          <p:cNvSpPr/>
          <p:nvPr/>
        </p:nvSpPr>
        <p:spPr>
          <a:xfrm>
            <a:off x="582364" y="1235869"/>
            <a:ext cx="3761929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364" y="1600944"/>
            <a:ext cx="3761929" cy="4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expense reimbursement processes often involve: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82364" y="2187401"/>
            <a:ext cx="3761929" cy="1060921"/>
          </a:xfrm>
          <a:prstGeom prst="rect">
            <a:avLst/>
          </a:prstGeom>
          <a:noFill/>
          <a:ln/>
        </p:spPr>
        <p:txBody>
          <a:bodyPr wrap="square" lIns="0" tIns="60744" rIns="0" bIns="0" rtlCol="0" anchor="t">
            <a:normAutofit/>
          </a:bodyPr>
          <a:lstStyle/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approval delays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of visibility into expense status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Difficult tracking of approval history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validation and security controls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61979" y="1235869"/>
            <a:ext cx="3846909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1979" y="1600944"/>
            <a:ext cx="3846909" cy="1307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complete digital workflow where:</a:t>
            </a:r>
            <a:endParaRPr lang="en-US" sz="1150" dirty="0"/>
          </a:p>
          <a:p>
            <a:pPr algn="l" indent="0" marL="0">
              <a:lnSpc>
                <a:spcPct val="124000"/>
              </a:lnSpc>
              <a:spcAft>
                <a:spcPts val="1050"/>
              </a:spcAft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Employee → Manager → Finance</a:t>
            </a:r>
            <a:endParaRPr lang="en-US" sz="1150" dirty="0"/>
          </a:p>
          <a:p>
            <a:pPr algn="l" indent="0" marL="0">
              <a:lnSpc>
                <a:spcPct val="124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 manage the complete expense lifecycle.</a:t>
            </a:r>
            <a:endParaRPr lang="en-US" sz="11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should provide: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61979" y="3042791"/>
            <a:ext cx="3846909" cy="1617538"/>
          </a:xfrm>
          <a:prstGeom prst="rect">
            <a:avLst/>
          </a:prstGeom>
          <a:noFill/>
          <a:ln/>
        </p:spPr>
        <p:txBody>
          <a:bodyPr wrap="square" lIns="0" tIns="60744" rIns="0" bIns="0" rtlCol="0" anchor="t">
            <a:normAutofit/>
          </a:bodyPr>
          <a:lstStyle/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access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authentication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Expense validation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Approval workflow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Payment tracking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testing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Solution Overview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39874" y="658788"/>
            <a:ext cx="8064252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ExpenseFlow Workflow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826145"/>
            <a:ext cx="2688059" cy="3085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6967" y="1173212"/>
            <a:ext cx="2533873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Employee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16967" y="1305818"/>
            <a:ext cx="2533873" cy="287238"/>
          </a:xfrm>
          <a:prstGeom prst="rect">
            <a:avLst/>
          </a:prstGeom>
          <a:noFill/>
          <a:ln/>
        </p:spPr>
        <p:txBody>
          <a:bodyPr wrap="square" lIns="0" tIns="30854" rIns="0" bIns="0" rtlCol="0" anchor="t">
            <a:normAutofit/>
          </a:bodyPr>
          <a:lstStyle/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Registers and logs in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Creates expense requests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approval status</a:t>
            </a:r>
            <a:endParaRPr lang="en-US" sz="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933" y="826145"/>
            <a:ext cx="2688059" cy="3085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05026" y="1173212"/>
            <a:ext cx="2533873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Manager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3305026" y="1305818"/>
            <a:ext cx="2533873" cy="187003"/>
          </a:xfrm>
          <a:prstGeom prst="rect">
            <a:avLst/>
          </a:prstGeom>
          <a:noFill/>
          <a:ln/>
        </p:spPr>
        <p:txBody>
          <a:bodyPr wrap="square" lIns="0" tIns="30854" rIns="0" bIns="0" rtlCol="0" anchor="t">
            <a:normAutofit/>
          </a:bodyPr>
          <a:lstStyle/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Reviews submitted expenses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Approves or rejects requests</a:t>
            </a:r>
            <a:endParaRPr lang="en-US" sz="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992" y="826145"/>
            <a:ext cx="2688134" cy="3085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93085" y="1173212"/>
            <a:ext cx="2533948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Finance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5993085" y="1305818"/>
            <a:ext cx="2533948" cy="187003"/>
          </a:xfrm>
          <a:prstGeom prst="rect">
            <a:avLst/>
          </a:prstGeom>
          <a:noFill/>
          <a:ln/>
        </p:spPr>
        <p:txBody>
          <a:bodyPr wrap="square" lIns="0" tIns="30854" rIns="0" bIns="0" rtlCol="0" anchor="t">
            <a:normAutofit/>
          </a:bodyPr>
          <a:lstStyle/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Processes approved expenses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Marks reimbursement as completed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539874" y="1727969"/>
            <a:ext cx="8064252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Expense Lifecycle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772" y="1895326"/>
            <a:ext cx="4736381" cy="28110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00368" y="4064682"/>
            <a:ext cx="1177360" cy="206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13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Paid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016572" y="3961612"/>
            <a:ext cx="1177360" cy="412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13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Manager Approved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508583" y="4064682"/>
            <a:ext cx="1177360" cy="206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13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Submitted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39874" y="4749775"/>
            <a:ext cx="8521452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workflow maintains clear ownership and status transitions between roles.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2168"/>
            <a:ext cx="8064252" cy="294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1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39874" y="764456"/>
            <a:ext cx="8064252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High-Level Architecture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874" y="1016050"/>
            <a:ext cx="8064252" cy="2528292"/>
          </a:xfrm>
          <a:prstGeom prst="roundRect">
            <a:avLst>
              <a:gd name="adj" fmla="val 61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64220" y="1119634"/>
            <a:ext cx="7815560" cy="232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Browser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Frontend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 Communication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Backend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Layer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Layer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Layer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Layer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Database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9874" y="3648745"/>
            <a:ext cx="8064252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 Approach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874" y="3900339"/>
            <a:ext cx="2641699" cy="3656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4896" y="4018211"/>
            <a:ext cx="2348805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Separate frontend and backend architecture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1150" y="3900339"/>
            <a:ext cx="2641699" cy="3656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6172" y="4018211"/>
            <a:ext cx="2348805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Layered backend design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2427" y="3900339"/>
            <a:ext cx="2641699" cy="3656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7449" y="4018211"/>
            <a:ext cx="2348805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REST-based communication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874" y="4335587"/>
            <a:ext cx="2641699" cy="3656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4896" y="4453458"/>
            <a:ext cx="2348805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Stateless JWT authentication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1150" y="4335587"/>
            <a:ext cx="2641699" cy="3656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26172" y="4453458"/>
            <a:ext cx="2348805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persistence using JPA/Hibernate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82352"/>
            <a:ext cx="8064252" cy="273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39874" y="780306"/>
            <a:ext cx="806425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39874" y="1007566"/>
            <a:ext cx="8064252" cy="1024607"/>
          </a:xfrm>
          <a:prstGeom prst="roundRect">
            <a:avLst>
              <a:gd name="adj" fmla="val 14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874" y="1213917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9874" y="1417886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9874" y="1621854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9874" y="1825823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66542" y="1007566"/>
            <a:ext cx="6026" cy="10246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1077" y="1053182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65290" y="1053182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Purpose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1077" y="1257151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Next.js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65290" y="1257151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application framework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1077" y="1461120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65290" y="1461120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Type-safe development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1077" y="1665089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Tailwind CSS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65290" y="1665089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styling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1077" y="1869058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Context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65290" y="1869058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Authentication state management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9874" y="2122512"/>
            <a:ext cx="806425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9874" y="2349773"/>
            <a:ext cx="8064252" cy="1228576"/>
          </a:xfrm>
          <a:prstGeom prst="roundRect">
            <a:avLst>
              <a:gd name="adj" fmla="val 117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874" y="2556123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9874" y="2760092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9874" y="2964061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39874" y="3168030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39874" y="3371999"/>
            <a:ext cx="8064252" cy="602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766542" y="2349773"/>
            <a:ext cx="6026" cy="12285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1077" y="2395389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65290" y="2395389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Purpose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1077" y="2599358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65290" y="2599358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development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1077" y="2803327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65290" y="2803327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 framework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1077" y="3007296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Security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65290" y="3007296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Authentication &amp; authorization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1077" y="3211264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65290" y="3211264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session handling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1077" y="3415233"/>
            <a:ext cx="348391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Hibernate/JPA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865290" y="3415233"/>
            <a:ext cx="5094908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operations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39874" y="3668688"/>
            <a:ext cx="806425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9874" y="3895948"/>
            <a:ext cx="8064252" cy="302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PostgreSQL</a:t>
            </a:r>
            <a:endParaRPr lang="en-US" sz="7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Used for storing: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39874" y="4266530"/>
            <a:ext cx="8064252" cy="394618"/>
          </a:xfrm>
          <a:prstGeom prst="rect">
            <a:avLst/>
          </a:prstGeom>
          <a:noFill/>
          <a:ln/>
        </p:spPr>
        <p:txBody>
          <a:bodyPr wrap="square" lIns="0" tIns="38567" rIns="0" bIns="0" rtlCol="0" anchor="t">
            <a:normAutofit/>
          </a:bodyPr>
          <a:lstStyle/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Expenses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Approval history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51693"/>
            <a:ext cx="8064252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spc="-2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&amp; Engineering Decisions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30560" y="1107281"/>
            <a:ext cx="4065538" cy="3584525"/>
          </a:xfrm>
          <a:prstGeom prst="roundRect">
            <a:avLst>
              <a:gd name="adj" fmla="val 635"/>
            </a:avLst>
          </a:prstGeom>
          <a:solidFill>
            <a:srgbClr val="2D2E34"/>
          </a:solidFill>
          <a:ln/>
        </p:spPr>
      </p:sp>
      <p:sp>
        <p:nvSpPr>
          <p:cNvPr id="4" name="Text 2"/>
          <p:cNvSpPr/>
          <p:nvPr/>
        </p:nvSpPr>
        <p:spPr>
          <a:xfrm>
            <a:off x="582364" y="1256705"/>
            <a:ext cx="3761929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Implementation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364" y="1621780"/>
            <a:ext cx="4219129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Implemented: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82364" y="1982242"/>
            <a:ext cx="3761929" cy="1363042"/>
          </a:xfrm>
          <a:prstGeom prst="rect">
            <a:avLst/>
          </a:prstGeom>
          <a:noFill/>
          <a:ln/>
        </p:spPr>
        <p:txBody>
          <a:bodyPr wrap="square" lIns="0" tIns="60744" rIns="0" bIns="0" rtlCol="0" anchor="t">
            <a:normAutofit/>
          </a:bodyPr>
          <a:lstStyle/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JWT-based authentication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Role-based authorization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Password encryption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Input validation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Centralized exception handling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61979" y="1256705"/>
            <a:ext cx="3846909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61979" y="1640458"/>
            <a:ext cx="3846909" cy="1683246"/>
          </a:xfrm>
          <a:prstGeom prst="roundRect">
            <a:avLst>
              <a:gd name="adj" fmla="val 135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1979" y="2062460"/>
            <a:ext cx="3846909" cy="94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61979" y="2482081"/>
            <a:ext cx="3846909" cy="94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61979" y="2901702"/>
            <a:ext cx="3846909" cy="94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18621" y="1739652"/>
            <a:ext cx="1688529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53560" y="1739652"/>
            <a:ext cx="2455962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Permissions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18621" y="2159273"/>
            <a:ext cx="1688529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Employee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53560" y="2159273"/>
            <a:ext cx="2455962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and view expenses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18621" y="2578894"/>
            <a:ext cx="1688529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53560" y="2578894"/>
            <a:ext cx="2455962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Approve or reject expenses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8621" y="2998515"/>
            <a:ext cx="1688529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53560" y="2998515"/>
            <a:ext cx="2455962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 payments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61979" y="3491805"/>
            <a:ext cx="3846909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Engineering Decisions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61979" y="3856881"/>
            <a:ext cx="3846909" cy="782613"/>
          </a:xfrm>
          <a:prstGeom prst="rect">
            <a:avLst/>
          </a:prstGeom>
          <a:noFill/>
          <a:ln/>
        </p:spPr>
        <p:txBody>
          <a:bodyPr wrap="square" lIns="0" tIns="60744" rIns="0" bIns="0" rtlCol="0" anchor="t">
            <a:normAutofit/>
          </a:bodyPr>
          <a:lstStyle/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Stateless authentication improves scalability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Layered architecture improves maintainability</a:t>
            </a:r>
            <a:endParaRPr lang="en-US" sz="1150" dirty="0"/>
          </a:p>
          <a:p>
            <a:pPr algn="l" marL="233680" indent="-23368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Validation prevents invalid business operations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AI-Assisted Engineering Workflow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39874" y="658788"/>
            <a:ext cx="8064252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Tools Used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39874" y="826145"/>
            <a:ext cx="2662386" cy="903387"/>
          </a:xfrm>
          <a:prstGeom prst="roundRect">
            <a:avLst>
              <a:gd name="adj" fmla="val 1281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6492" y="912763"/>
            <a:ext cx="2489150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Antigravity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26492" y="1045369"/>
            <a:ext cx="2489150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Used for: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626492" y="1155204"/>
            <a:ext cx="2489150" cy="487710"/>
          </a:xfrm>
          <a:prstGeom prst="rect">
            <a:avLst/>
          </a:prstGeom>
          <a:noFill/>
          <a:ln/>
        </p:spPr>
        <p:txBody>
          <a:bodyPr wrap="square" lIns="0" tIns="30854" rIns="0" bIns="0" rtlCol="0" anchor="t">
            <a:normAutofit/>
          </a:bodyPr>
          <a:lstStyle/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Repository analysis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implementation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generation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Debugging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review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3240807" y="826145"/>
            <a:ext cx="2662386" cy="903387"/>
          </a:xfrm>
          <a:prstGeom prst="roundRect">
            <a:avLst>
              <a:gd name="adj" fmla="val 1281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7425" y="912763"/>
            <a:ext cx="2489150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Cursor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327425" y="1045369"/>
            <a:ext cx="2489150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Used for: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327425" y="1155204"/>
            <a:ext cx="2489150" cy="187003"/>
          </a:xfrm>
          <a:prstGeom prst="rect">
            <a:avLst/>
          </a:prstGeom>
          <a:noFill/>
          <a:ln/>
        </p:spPr>
        <p:txBody>
          <a:bodyPr wrap="square" lIns="0" tIns="30854" rIns="0" bIns="0" rtlCol="0" anchor="t">
            <a:normAutofit/>
          </a:bodyPr>
          <a:lstStyle/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Development assistance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improvements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5941740" y="826145"/>
            <a:ext cx="2662386" cy="903387"/>
          </a:xfrm>
          <a:prstGeom prst="roundRect">
            <a:avLst>
              <a:gd name="adj" fmla="val 1281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8358" y="912763"/>
            <a:ext cx="2489150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ChatGPT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028358" y="1045369"/>
            <a:ext cx="2489150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Used for: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028358" y="1155204"/>
            <a:ext cx="2489150" cy="287238"/>
          </a:xfrm>
          <a:prstGeom prst="rect">
            <a:avLst/>
          </a:prstGeom>
          <a:noFill/>
          <a:ln/>
        </p:spPr>
        <p:txBody>
          <a:bodyPr wrap="square" lIns="0" tIns="30854" rIns="0" bIns="0" rtlCol="0" anchor="t">
            <a:normAutofit/>
          </a:bodyPr>
          <a:lstStyle/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 planning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Documentation support</a:t>
            </a:r>
            <a:endParaRPr lang="en-US" sz="600" dirty="0"/>
          </a:p>
          <a:p>
            <a:pPr algn="l" marL="121920" indent="-121920">
              <a:lnSpc>
                <a:spcPct val="94000"/>
              </a:lnSpc>
              <a:buSzPct val="100000"/>
              <a:buChar char="•"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Prompt refinement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39874" y="1787351"/>
            <a:ext cx="8064252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Change Loop</a:t>
            </a:r>
            <a:endParaRPr lang="en-US" sz="6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1954709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32755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2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Testing &amp; Quality Assurance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556668"/>
            <a:ext cx="3843933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Automated Testing Strategy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9874" y="1930078"/>
            <a:ext cx="3843933" cy="60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Testing Framework: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JUnit + Spring Boot Test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Covered Areas: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874" y="2670349"/>
            <a:ext cx="3843933" cy="1686446"/>
          </a:xfrm>
          <a:prstGeom prst="rect">
            <a:avLst/>
          </a:prstGeom>
          <a:noFill/>
          <a:ln/>
        </p:spPr>
        <p:txBody>
          <a:bodyPr wrap="square" lIns="0" tIns="61708" rIns="0" bIns="0" rtlCol="0" anchor="t">
            <a:normAutofit/>
          </a:bodyPr>
          <a:lstStyle/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User registration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Authentication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Expense creation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Approval workflow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Payment workflow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Validation 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53855" y="1402407"/>
            <a:ext cx="4066133" cy="3008337"/>
          </a:xfrm>
          <a:prstGeom prst="roundRect">
            <a:avLst>
              <a:gd name="adj" fmla="val 769"/>
            </a:avLst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4808116" y="1556668"/>
            <a:ext cx="3757613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1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Deliberate Failure Testing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8116" y="1930078"/>
            <a:ext cx="3757613" cy="231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business logic defect was intentionally introduced:</a:t>
            </a:r>
            <a:endParaRPr lang="en-US" sz="1200" dirty="0"/>
          </a:p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Expected: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MANAGER_APPROVED</a:t>
            </a:r>
            <a:endParaRPr lang="en-US" sz="1200" dirty="0"/>
          </a:p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Actual: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PAID</a:t>
            </a:r>
            <a:endParaRPr lang="en-US" sz="1200" dirty="0"/>
          </a:p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Test Result: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BUILD FAILURE</a:t>
            </a:r>
            <a:endParaRPr lang="en-US" sz="1200" dirty="0"/>
          </a:p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After correction: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19/19 Tests Passed — BUILD SUCCESS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validated that the test suite detects real application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3657"/>
            <a:ext cx="8064252" cy="30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1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 Flow &amp; Future Improvements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9874" y="942380"/>
            <a:ext cx="3899818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0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Demonstration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172617"/>
            <a:ext cx="435701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demo covers: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9874" y="1396975"/>
            <a:ext cx="21691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-9" kern="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39874" y="1567011"/>
            <a:ext cx="3899818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539874" y="1649760"/>
            <a:ext cx="389981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registration and login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9874" y="1945853"/>
            <a:ext cx="21691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-9" kern="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9874" y="2115889"/>
            <a:ext cx="3899818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539874" y="2198638"/>
            <a:ext cx="389981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Employee expense submission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9874" y="2494731"/>
            <a:ext cx="21691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-9" kern="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9874" y="2664768"/>
            <a:ext cx="3899818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3" name="Text 11"/>
          <p:cNvSpPr/>
          <p:nvPr/>
        </p:nvSpPr>
        <p:spPr>
          <a:xfrm>
            <a:off x="539874" y="2747516"/>
            <a:ext cx="389981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Manager approval workflow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9874" y="3043610"/>
            <a:ext cx="21691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-9" kern="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9874" y="3213646"/>
            <a:ext cx="3899818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6" name="Text 14"/>
          <p:cNvSpPr/>
          <p:nvPr/>
        </p:nvSpPr>
        <p:spPr>
          <a:xfrm>
            <a:off x="539874" y="3296394"/>
            <a:ext cx="389981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Finance payment processing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9874" y="3592488"/>
            <a:ext cx="21691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-9" kern="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9874" y="3762524"/>
            <a:ext cx="3899818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9" name="Text 17"/>
          <p:cNvSpPr/>
          <p:nvPr/>
        </p:nvSpPr>
        <p:spPr>
          <a:xfrm>
            <a:off x="539874" y="3845272"/>
            <a:ext cx="389981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AI-assisted feature change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9874" y="4141366"/>
            <a:ext cx="21691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-9" kern="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9874" y="4311402"/>
            <a:ext cx="3899818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2" name="Text 20"/>
          <p:cNvSpPr/>
          <p:nvPr/>
        </p:nvSpPr>
        <p:spPr>
          <a:xfrm>
            <a:off x="539874" y="4394150"/>
            <a:ext cx="389981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test validation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071" y="942380"/>
            <a:ext cx="3899818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0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Enhancements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071" y="1172617"/>
            <a:ext cx="3899818" cy="799356"/>
          </a:xfrm>
          <a:prstGeom prst="rect">
            <a:avLst/>
          </a:prstGeom>
          <a:noFill/>
          <a:ln/>
        </p:spPr>
        <p:txBody>
          <a:bodyPr wrap="square" lIns="0" tIns="43388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notifications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deployment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Expense attachments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CI/CD integration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Analytics dashboard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071" y="2084859"/>
            <a:ext cx="3899818" cy="14288"/>
          </a:xfrm>
          <a:prstGeom prst="roundRect">
            <a:avLst>
              <a:gd name="adj" fmla="val 49998"/>
            </a:avLst>
          </a:prstGeom>
          <a:solidFill>
            <a:srgbClr val="3D3838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09071" y="2212032"/>
            <a:ext cx="3899818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0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071" y="2442270"/>
            <a:ext cx="435701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ExpenseFlow demonstrates: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09071" y="2649438"/>
            <a:ext cx="3899818" cy="634157"/>
          </a:xfrm>
          <a:prstGeom prst="rect">
            <a:avLst/>
          </a:prstGeom>
          <a:noFill/>
          <a:ln/>
        </p:spPr>
        <p:txBody>
          <a:bodyPr wrap="square" lIns="0" tIns="43388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Full-stack development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application design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AI-assisted engineering workflow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quality validation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2026-08-15T06:43:07Z</dcterms:created>
  <dcterms:modified xsi:type="dcterms:W3CDTF">2026-08-15T06:43:07Z</dcterms:modified>
</cp:coreProperties>
</file>